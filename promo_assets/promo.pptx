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showPr loop="0" showNarration="0" showAnimation="1" useTimings="1">
    <p:present/>
  </p:showPr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1005840"/>
            <a:ext cx="64008" cy="64008"/>
          </a:xfrm>
          <a:prstGeom prst="rect">
            <a:avLst/>
          </a:prstGeom>
          <a:solidFill>
            <a:srgbClr val="D1D1D6"/>
          </a:solidFill>
          <a:ln w="12700">
            <a:solidFill>
              <a:srgbClr val="D1D1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194560" y="640080"/>
            <a:ext cx="54864" cy="54864"/>
          </a:xfrm>
          <a:prstGeom prst="rect">
            <a:avLst/>
          </a:prstGeom>
          <a:solidFill>
            <a:srgbClr val="E5E5EA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1188720"/>
            <a:ext cx="73152" cy="73152"/>
          </a:xfrm>
          <a:prstGeom prst="rect">
            <a:avLst/>
          </a:prstGeom>
          <a:solidFill>
            <a:srgbClr val="D1D1D6"/>
          </a:solidFill>
          <a:ln w="12700">
            <a:solidFill>
              <a:srgbClr val="D1D1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0" y="822960"/>
            <a:ext cx="45720" cy="45720"/>
          </a:xfrm>
          <a:prstGeom prst="rect">
            <a:avLst/>
          </a:prstGeom>
          <a:solidFill>
            <a:srgbClr val="E5E5EA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0" y="4023360"/>
            <a:ext cx="54864" cy="54864"/>
          </a:xfrm>
          <a:prstGeom prst="rect">
            <a:avLst/>
          </a:prstGeom>
          <a:solidFill>
            <a:srgbClr val="E5E5EA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0" y="4206240"/>
            <a:ext cx="64008" cy="64008"/>
          </a:xfrm>
          <a:prstGeom prst="rect">
            <a:avLst/>
          </a:prstGeom>
          <a:solidFill>
            <a:srgbClr val="D1D1D6"/>
          </a:solidFill>
          <a:ln w="12700">
            <a:solidFill>
              <a:srgbClr val="D1D1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926080"/>
            <a:ext cx="45720" cy="45720"/>
          </a:xfrm>
          <a:prstGeom prst="rect">
            <a:avLst/>
          </a:prstGeom>
          <a:solidFill>
            <a:srgbClr val="E5E5EA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0" y="3200400"/>
            <a:ext cx="54864" cy="54864"/>
          </a:xfrm>
          <a:prstGeom prst="rect">
            <a:avLst/>
          </a:prstGeom>
          <a:solidFill>
            <a:srgbClr val="D1D1D6"/>
          </a:solidFill>
          <a:ln w="12700">
            <a:solidFill>
              <a:srgbClr val="D1D1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数字化安全监督员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2926080" y="2423160"/>
            <a:ext cx="3291840" cy="0"/>
          </a:xfrm>
          <a:prstGeom prst="line">
            <a:avLst/>
          </a:prstGeom>
          <a:noFill/>
          <a:ln w="12700">
            <a:solidFill>
              <a:srgbClr val="E5E5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52928" y="2386584"/>
            <a:ext cx="73152" cy="73152"/>
          </a:xfrm>
          <a:prstGeom prst="rect">
            <a:avLst/>
          </a:prstGeom>
          <a:solidFill>
            <a:srgbClr val="8E8E93"/>
          </a:solidFill>
          <a:ln w="12700">
            <a:solidFill>
              <a:srgbClr val="8E8E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606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powerful HSE compliance agent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" y="47091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v3.15  ·  中燃集团 AI 创新创意大赛 · 赛道三</a:t>
            </a:r>
            <a:endParaRPr lang="en-US" sz="1100" dirty="0"/>
          </a:p>
        </p:txBody>
      </p:sp>
    </p:spTree>
  </p:cSld>
  <p:clrMapOvr>
    <a:masterClrMapping/>
  </p:clrMapOvr>
  <p:transition spd="med" advClick="0" advTm="42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人工审核痛点。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8745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04672" y="1600200"/>
            <a:ext cx="109728" cy="109728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9659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分钟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04672" y="25146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单票人工传递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0" y="1371600"/>
            <a:ext cx="18745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907792" y="1600200"/>
            <a:ext cx="109728" cy="10972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07792" y="19659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易漏检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907792" y="25146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项措施 × 5 列确认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846320" y="1371600"/>
            <a:ext cx="18745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10912" y="1600200"/>
            <a:ext cx="109728" cy="10972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10912" y="19659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人工审核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010912" y="25146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审批凭人工经验，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自动化审核更规范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949440" y="1371600"/>
            <a:ext cx="18745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114032" y="1600200"/>
            <a:ext cx="109728" cy="10972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14032" y="19659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数据沉睡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114032" y="25146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纸质归档，无法统计问题</a:t>
            </a:r>
            <a:endParaRPr lang="en-US" sz="1300" dirty="0"/>
          </a:p>
        </p:txBody>
      </p:sp>
    </p:spTree>
  </p:cSld>
  <p:clrMapOvr>
    <a:masterClrMapping/>
  </p:clrMapOvr>
  <p:transition spd="med" advClick="0" advTm="42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950976" y="1133856"/>
            <a:ext cx="1097280" cy="36576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48256" y="1133856"/>
            <a:ext cx="731520" cy="73152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0976" y="1499616"/>
            <a:ext cx="1828800" cy="36576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37376" y="1408176"/>
            <a:ext cx="1005840" cy="36576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7443216" y="1042416"/>
            <a:ext cx="640080" cy="73152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6437376" y="1042416"/>
            <a:ext cx="1645920" cy="36576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08176" y="3511296"/>
            <a:ext cx="1188720" cy="36576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94576" y="3602736"/>
            <a:ext cx="1005840" cy="36576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1463040"/>
            <a:ext cx="82296" cy="82296"/>
          </a:xfrm>
          <a:prstGeom prst="rect">
            <a:avLst/>
          </a:prstGeom>
          <a:solidFill>
            <a:srgbClr val="8E8E93"/>
          </a:solidFill>
          <a:ln w="12700">
            <a:solidFill>
              <a:srgbClr val="8E8E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11680" y="1097280"/>
            <a:ext cx="64008" cy="6400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0" y="1828800"/>
            <a:ext cx="54864" cy="54864"/>
          </a:xfrm>
          <a:prstGeom prst="rect">
            <a:avLst/>
          </a:prstGeom>
          <a:solidFill>
            <a:srgbClr val="AEAEB2"/>
          </a:solidFill>
          <a:ln w="12700">
            <a:solidFill>
              <a:srgbClr val="AEAEB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0" y="1371600"/>
            <a:ext cx="73152" cy="73152"/>
          </a:xfrm>
          <a:prstGeom prst="rect">
            <a:avLst/>
          </a:prstGeom>
          <a:solidFill>
            <a:srgbClr val="8E8E93"/>
          </a:solidFill>
          <a:ln w="12700">
            <a:solidFill>
              <a:srgbClr val="8E8E9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06640" y="1737360"/>
            <a:ext cx="54864" cy="54864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0" y="1005840"/>
            <a:ext cx="64008" cy="64008"/>
          </a:xfrm>
          <a:prstGeom prst="rect">
            <a:avLst/>
          </a:prstGeom>
          <a:solidFill>
            <a:srgbClr val="AEAEB2"/>
          </a:solidFill>
          <a:ln w="12700">
            <a:solidFill>
              <a:srgbClr val="AEAEB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71600" y="3474720"/>
            <a:ext cx="64008" cy="6400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60320" y="3840480"/>
            <a:ext cx="45720" cy="45720"/>
          </a:xfrm>
          <a:prstGeom prst="rect">
            <a:avLst/>
          </a:prstGeom>
          <a:solidFill>
            <a:srgbClr val="D1D1D6"/>
          </a:solidFill>
          <a:ln w="12700">
            <a:solidFill>
              <a:srgbClr val="D1D1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0" y="3566160"/>
            <a:ext cx="73152" cy="73152"/>
          </a:xfrm>
          <a:prstGeom prst="rect">
            <a:avLst/>
          </a:prstGeom>
          <a:solidFill>
            <a:srgbClr val="8E8E93"/>
          </a:solidFill>
          <a:ln w="12700">
            <a:solidFill>
              <a:srgbClr val="8E8E9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863840" y="3931920"/>
            <a:ext cx="54864" cy="54864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205740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拍照一张带气作业票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731520" y="26060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秒完成识别 · 校验 · 审批建议</a:t>
            </a:r>
            <a:endParaRPr lang="en-US" sz="2200" dirty="0"/>
          </a:p>
        </p:txBody>
      </p:sp>
    </p:spTree>
  </p:cSld>
  <p:clrMapOvr>
    <a:masterClrMapping/>
  </p:clrMapOvr>
  <p:transition spd="med" advClick="0" advTm="42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344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自动化跑通全流程。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188720" y="2240280"/>
            <a:ext cx="6766560" cy="6583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BEBEB"/>
            </a:solidFill>
            <a:prstDash val="solid"/>
          </a:ln>
          <a:effectLst>
            <a:outerShdw sx="100000" sy="100000" kx="0" ky="0" algn="bl" rotWithShape="0" blurRad="304800" dist="76200" dir="81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417320" y="233172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 </a:t>
            </a:r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拍一张带气作业票，自动审批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035040" y="2331720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安全监督员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60920" y="2350008"/>
            <a:ext cx="438912" cy="438912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60920" y="23500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2918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感知 → 推理 → 反思 → 执行 → 总结（审批结果）</a:t>
            </a:r>
            <a:endParaRPr lang="en-US" sz="1400" dirty="0"/>
          </a:p>
        </p:txBody>
      </p:sp>
    </p:spTree>
  </p:cSld>
  <p:clrMapOvr>
    <a:masterClrMapping/>
  </p:clrMapOvr>
  <p:transition spd="med" advClick="0" advTm="42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640080"/>
            <a:ext cx="7315200" cy="3246120"/>
          </a:xfrm>
          <a:prstGeom prst="roundRect">
            <a:avLst>
              <a:gd name="adj" fmla="val 45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04800" dist="76200" dir="8100000">
              <a:srgbClr val="000000">
                <a:alpha val="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188720" y="86868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票号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88720" y="11430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MDJZR…1007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926080" y="86868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作业等级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926080" y="11430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二级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663440" y="86868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措施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63440" y="11430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25×5 齐全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86868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决策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0" y="11430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自动通过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188720" y="1645920"/>
            <a:ext cx="6766560" cy="0"/>
          </a:xfrm>
          <a:prstGeom prst="line">
            <a:avLst/>
          </a:prstGeom>
          <a:noFill/>
          <a:ln w="12700">
            <a:solidFill>
              <a:srgbClr val="E5E5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18288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安全措施落实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234440" y="2743200"/>
            <a:ext cx="164592" cy="320040"/>
          </a:xfrm>
          <a:prstGeom prst="roundRect">
            <a:avLst>
              <a:gd name="adj" fmla="val 16667"/>
            </a:avLst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90472" y="2633472"/>
            <a:ext cx="164592" cy="429768"/>
          </a:xfrm>
          <a:prstGeom prst="roundRect">
            <a:avLst>
              <a:gd name="adj" fmla="val 16667"/>
            </a:avLst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746504" y="2523744"/>
            <a:ext cx="164592" cy="539496"/>
          </a:xfrm>
          <a:prstGeom prst="roundRect">
            <a:avLst>
              <a:gd name="adj" fmla="val 16667"/>
            </a:avLst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02536" y="2414016"/>
            <a:ext cx="164592" cy="649224"/>
          </a:xfrm>
          <a:prstGeom prst="roundRect">
            <a:avLst>
              <a:gd name="adj" fmla="val 16667"/>
            </a:avLst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58568" y="2743200"/>
            <a:ext cx="164592" cy="320040"/>
          </a:xfrm>
          <a:prstGeom prst="roundRect">
            <a:avLst>
              <a:gd name="adj" fmla="val 16667"/>
            </a:avLst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14600" y="2633472"/>
            <a:ext cx="164592" cy="429768"/>
          </a:xfrm>
          <a:prstGeom prst="roundRect">
            <a:avLst>
              <a:gd name="adj" fmla="val 16667"/>
            </a:avLst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70632" y="2523744"/>
            <a:ext cx="164592" cy="539496"/>
          </a:xfrm>
          <a:prstGeom prst="roundRect">
            <a:avLst>
              <a:gd name="adj" fmla="val 16667"/>
            </a:avLst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026664" y="2414016"/>
            <a:ext cx="164592" cy="649224"/>
          </a:xfrm>
          <a:prstGeom prst="roundRect">
            <a:avLst>
              <a:gd name="adj" fmla="val 16667"/>
            </a:avLst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82696" y="2743200"/>
            <a:ext cx="164592" cy="320040"/>
          </a:xfrm>
          <a:prstGeom prst="roundRect">
            <a:avLst>
              <a:gd name="adj" fmla="val 16667"/>
            </a:avLst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38728" y="2404872"/>
            <a:ext cx="164592" cy="658368"/>
          </a:xfrm>
          <a:prstGeom prst="roundRect">
            <a:avLst>
              <a:gd name="adj" fmla="val 16667"/>
            </a:avLst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94760" y="2295144"/>
            <a:ext cx="164592" cy="768096"/>
          </a:xfrm>
          <a:prstGeom prst="roundRect">
            <a:avLst>
              <a:gd name="adj" fmla="val 16667"/>
            </a:avLst>
          </a:prstGeom>
          <a:solidFill>
            <a:srgbClr val="A8C5F5"/>
          </a:solidFill>
          <a:ln w="12700">
            <a:solidFill>
              <a:srgbClr val="A8C5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050792" y="2185416"/>
            <a:ext cx="164592" cy="877824"/>
          </a:xfrm>
          <a:prstGeom prst="roundRect">
            <a:avLst>
              <a:gd name="adj" fmla="val 16667"/>
            </a:avLst>
          </a:prstGeom>
          <a:solidFill>
            <a:srgbClr val="A8C5F5"/>
          </a:solidFill>
          <a:ln w="12700">
            <a:solidFill>
              <a:srgbClr val="A8C5F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1965960"/>
            <a:ext cx="3017520" cy="1554480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0" y="21031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审批建议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29200" y="242316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同意作业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通过审批 · 天气正常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1645920" y="4206240"/>
            <a:ext cx="5852160" cy="53035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BEBEB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6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874520" y="427939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 处理这张带气作业票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903720" y="4297680"/>
            <a:ext cx="347472" cy="347472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03720" y="4297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300" dirty="0"/>
          </a:p>
        </p:txBody>
      </p:sp>
    </p:spTree>
  </p:cSld>
  <p:clrMapOvr>
    <a:masterClrMapping/>
  </p:clrMapOvr>
  <p:transition spd="med" advClick="0" advTm="42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High-speed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从原人工传递、人工审核，现在自动化线上 60s 完成闭环。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818888" y="1920240"/>
            <a:ext cx="914" cy="2377440"/>
          </a:xfrm>
          <a:prstGeom prst="line">
            <a:avLst/>
          </a:prstGeom>
          <a:noFill/>
          <a:ln w="19050">
            <a:solidFill>
              <a:srgbClr val="5B8DEF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54880" y="1865376"/>
            <a:ext cx="128016" cy="128016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02936" y="2194560"/>
            <a:ext cx="914" cy="2103120"/>
          </a:xfrm>
          <a:prstGeom prst="line">
            <a:avLst/>
          </a:prstGeom>
          <a:noFill/>
          <a:ln w="19050">
            <a:solidFill>
              <a:srgbClr val="5B8DEF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138928" y="2139696"/>
            <a:ext cx="128016" cy="128016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586984" y="2468880"/>
            <a:ext cx="914" cy="1828800"/>
          </a:xfrm>
          <a:prstGeom prst="line">
            <a:avLst/>
          </a:prstGeom>
          <a:noFill/>
          <a:ln w="19050">
            <a:solidFill>
              <a:srgbClr val="6B98F0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522976" y="2414016"/>
            <a:ext cx="128016" cy="128016"/>
          </a:xfrm>
          <a:prstGeom prst="rect">
            <a:avLst/>
          </a:prstGeom>
          <a:solidFill>
            <a:srgbClr val="6B98F0"/>
          </a:solidFill>
          <a:ln w="12700">
            <a:solidFill>
              <a:srgbClr val="6B9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71032" y="2743200"/>
            <a:ext cx="914" cy="1554480"/>
          </a:xfrm>
          <a:prstGeom prst="line">
            <a:avLst/>
          </a:prstGeom>
          <a:noFill/>
          <a:ln w="19050">
            <a:solidFill>
              <a:srgbClr val="7BA3F2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07024" y="2688336"/>
            <a:ext cx="128016" cy="128016"/>
          </a:xfrm>
          <a:prstGeom prst="rect">
            <a:avLst/>
          </a:prstGeom>
          <a:solidFill>
            <a:srgbClr val="7BA3F2"/>
          </a:solidFill>
          <a:ln w="12700">
            <a:solidFill>
              <a:srgbClr val="7BA3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55080" y="3017520"/>
            <a:ext cx="914" cy="1280160"/>
          </a:xfrm>
          <a:prstGeom prst="line">
            <a:avLst/>
          </a:prstGeom>
          <a:noFill/>
          <a:ln w="19050">
            <a:solidFill>
              <a:srgbClr val="8BAEF3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91072" y="2962656"/>
            <a:ext cx="128016" cy="128016"/>
          </a:xfrm>
          <a:prstGeom prst="rect">
            <a:avLst/>
          </a:prstGeom>
          <a:solidFill>
            <a:srgbClr val="8BAEF3"/>
          </a:solidFill>
          <a:ln w="12700">
            <a:solidFill>
              <a:srgbClr val="8BAEF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39128" y="3291840"/>
            <a:ext cx="914" cy="1005840"/>
          </a:xfrm>
          <a:prstGeom prst="line">
            <a:avLst/>
          </a:prstGeom>
          <a:noFill/>
          <a:ln w="19050">
            <a:solidFill>
              <a:srgbClr val="9BB9F5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75120" y="3236976"/>
            <a:ext cx="128016" cy="128016"/>
          </a:xfrm>
          <a:prstGeom prst="rect">
            <a:avLst/>
          </a:prstGeom>
          <a:solidFill>
            <a:srgbClr val="9BB9F5"/>
          </a:solidFill>
          <a:ln w="12700">
            <a:solidFill>
              <a:srgbClr val="9BB9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23176" y="3520440"/>
            <a:ext cx="914" cy="777240"/>
          </a:xfrm>
          <a:prstGeom prst="line">
            <a:avLst/>
          </a:prstGeom>
          <a:noFill/>
          <a:ln w="19050">
            <a:solidFill>
              <a:srgbClr val="ABC4F6">
                <a:alpha val="6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59168" y="3465576"/>
            <a:ext cx="128016" cy="128016"/>
          </a:xfrm>
          <a:prstGeom prst="rect">
            <a:avLst/>
          </a:prstGeom>
          <a:solidFill>
            <a:srgbClr val="ABC4F6"/>
          </a:solidFill>
          <a:ln w="12700">
            <a:solidFill>
              <a:srgbClr val="ABC4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07224" y="3749040"/>
            <a:ext cx="914" cy="548640"/>
          </a:xfrm>
          <a:prstGeom prst="line">
            <a:avLst/>
          </a:prstGeom>
          <a:noFill/>
          <a:ln w="19050">
            <a:solidFill>
              <a:srgbClr val="BBCFF8">
                <a:alpha val="6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43216" y="3694176"/>
            <a:ext cx="128016" cy="128016"/>
          </a:xfrm>
          <a:prstGeom prst="rect">
            <a:avLst/>
          </a:prstGeom>
          <a:solidFill>
            <a:srgbClr val="BBCFF8"/>
          </a:solidFill>
          <a:ln w="12700">
            <a:solidFill>
              <a:srgbClr val="BBCF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91272" y="3931920"/>
            <a:ext cx="914" cy="365760"/>
          </a:xfrm>
          <a:prstGeom prst="line">
            <a:avLst/>
          </a:prstGeom>
          <a:noFill/>
          <a:ln w="19050">
            <a:solidFill>
              <a:srgbClr val="CBDAF9">
                <a:alpha val="6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827264" y="3877056"/>
            <a:ext cx="128016" cy="128016"/>
          </a:xfrm>
          <a:prstGeom prst="rect">
            <a:avLst/>
          </a:prstGeom>
          <a:solidFill>
            <a:srgbClr val="CBDAF9"/>
          </a:solidFill>
          <a:ln w="12700">
            <a:solidFill>
              <a:srgbClr val="CBDAF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75320" y="4041648"/>
            <a:ext cx="914" cy="256032"/>
          </a:xfrm>
          <a:prstGeom prst="line">
            <a:avLst/>
          </a:prstGeom>
          <a:noFill/>
          <a:ln w="19050">
            <a:solidFill>
              <a:srgbClr val="D1D1D6">
                <a:alpha val="6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11312" y="3986784"/>
            <a:ext cx="128016" cy="128016"/>
          </a:xfrm>
          <a:prstGeom prst="rect">
            <a:avLst/>
          </a:prstGeom>
          <a:solidFill>
            <a:srgbClr val="D1D1D6"/>
          </a:solidFill>
          <a:ln w="12700">
            <a:solidFill>
              <a:srgbClr val="D1D1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0" y="16916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818120" y="38404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60s</a:t>
            </a:r>
            <a:endParaRPr lang="en-US" sz="1000" dirty="0"/>
          </a:p>
        </p:txBody>
      </p:sp>
    </p:spTree>
  </p:cSld>
  <p:clrMapOvr>
    <a:masterClrMapping/>
  </p:clrMapOvr>
  <p:transition spd="med" advClick="0" advTm="42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合规校验、可审计闭环。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五个阶段 · 总结输出审批结果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572768" cy="310896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85216" y="1508760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85216" y="1920240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感知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85216" y="2468880"/>
            <a:ext cx="13167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模板对齐 + OCR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勾选格物理识别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157984" y="1325880"/>
            <a:ext cx="1572768" cy="310896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286000" y="1508760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86000" y="1920240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推理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286000" y="2468880"/>
            <a:ext cx="13167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结构化字段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票号 / 等级 / 签批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858768" y="1325880"/>
            <a:ext cx="1572768" cy="310896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986784" y="1508760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986784" y="1920240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反思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986784" y="2468880"/>
            <a:ext cx="13167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25×5 规则校验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失败自动重试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59552" y="1325880"/>
            <a:ext cx="1572768" cy="310896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687568" y="1508760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87568" y="1920240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执行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687568" y="2468880"/>
            <a:ext cx="13167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分级路由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钉钉 + 本地入库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260336" y="1325880"/>
            <a:ext cx="1572768" cy="310896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388352" y="1508760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88352" y="1920240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总结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388352" y="2468880"/>
            <a:ext cx="13167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审批结果输出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决策链可审计</a:t>
            </a:r>
            <a:endParaRPr lang="en-US" sz="1200" dirty="0"/>
          </a:p>
        </p:txBody>
      </p:sp>
    </p:spTree>
  </p:cSld>
  <p:clrMapOvr>
    <a:masterClrMapping/>
  </p:clrMapOvr>
  <p:transition spd="med" advClick="0" advTm="42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端到端，数据不出企。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26517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41248" y="1353312"/>
            <a:ext cx="109728" cy="109728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6002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WebUI 即用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41248" y="20116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手机浏览器拍照上传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无需专用客户端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29000" y="1097280"/>
            <a:ext cx="26517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30168" y="1353312"/>
            <a:ext cx="109728" cy="109728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30168" y="16002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本地 OCR + LLM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30168" y="20116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PaddleOCR 私有化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企业大模型可接入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1097280"/>
            <a:ext cx="26517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19088" y="1353312"/>
            <a:ext cx="109728" cy="109728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19088" y="16002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禁止静默兜底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19088" y="20116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识别不到不编造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漏项即阻断放行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2880360"/>
            <a:ext cx="26517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1248" y="3136392"/>
            <a:ext cx="109728" cy="109728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33832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钉钉 AI 表格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1248" y="37947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自动通过 / 人工介入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消息触达主管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29000" y="2880360"/>
            <a:ext cx="26517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30168" y="3136392"/>
            <a:ext cx="109728" cy="109728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30168" y="33832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决策链日志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630168" y="37947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每步可审计追溯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支撑复盘与合规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17920" y="2880360"/>
            <a:ext cx="26517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19088" y="3136392"/>
            <a:ext cx="109728" cy="109728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19088" y="33832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 条件路由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19088" y="37947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二级无异常自动过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一级推送人工介入</a:t>
            </a:r>
            <a:endParaRPr lang="en-US" sz="1200" dirty="0"/>
          </a:p>
        </p:txBody>
      </p:sp>
    </p:spTree>
  </p:cSld>
  <p:clrMapOvr>
    <a:masterClrMapping/>
  </p:clrMapOvr>
  <p:transition spd="med" advClick="0" advTm="42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规则清晰。放行有据。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78638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097280"/>
            <a:ext cx="73152" cy="566928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20700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安全措施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926080" y="1207008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项 × 5 列，√ / × / \ 全覆盖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755648"/>
            <a:ext cx="78638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755648"/>
            <a:ext cx="73152" cy="566928"/>
          </a:xfrm>
          <a:prstGeom prst="rect">
            <a:avLst/>
          </a:prstGeom>
          <a:solidFill>
            <a:srgbClr val="A8C5F5"/>
          </a:solidFill>
          <a:ln w="12700">
            <a:solidFill>
              <a:srgbClr val="A8C5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86537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作业等级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926080" y="1865376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一级 / 二级识别，一级最高危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2414016"/>
            <a:ext cx="78638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2414016"/>
            <a:ext cx="73152" cy="566928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252374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日期签名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926080" y="2523744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作业时间、完工、签批五列齐全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3072384"/>
            <a:ext cx="78638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3072384"/>
            <a:ext cx="73152" cy="566928"/>
          </a:xfrm>
          <a:prstGeom prst="rect">
            <a:avLst/>
          </a:prstGeom>
          <a:solidFill>
            <a:srgbClr val="A8C5F5"/>
          </a:solidFill>
          <a:ln w="12700">
            <a:solidFill>
              <a:srgbClr val="A8C5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31821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问题处置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926080" y="3182112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与空白记异常，推送钉钉介入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3730752"/>
            <a:ext cx="78638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3730752"/>
            <a:ext cx="73152" cy="566928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38404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识别失败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2926080" y="384048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不编造字段，禁止兜底通过</a:t>
            </a:r>
            <a:endParaRPr lang="en-US" sz="1400" dirty="0"/>
          </a:p>
        </p:txBody>
      </p:sp>
    </p:spTree>
  </p:cSld>
  <p:clrMapOvr>
    <a:masterClrMapping/>
  </p:clrMapOvr>
  <p:transition spd="med" advClick="0" advTm="42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914400"/>
            <a:ext cx="54864" cy="54864"/>
          </a:xfrm>
          <a:prstGeom prst="rect">
            <a:avLst/>
          </a:prstGeom>
          <a:solidFill>
            <a:srgbClr val="D1D1D6"/>
          </a:solidFill>
          <a:ln w="12700">
            <a:solidFill>
              <a:srgbClr val="D1D1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1097280"/>
            <a:ext cx="64008" cy="6400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4114800"/>
            <a:ext cx="45720" cy="45720"/>
          </a:xfrm>
          <a:prstGeom prst="rect">
            <a:avLst/>
          </a:prstGeom>
          <a:solidFill>
            <a:srgbClr val="E5E5EA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0" y="4023360"/>
            <a:ext cx="54864" cy="54864"/>
          </a:xfrm>
          <a:prstGeom prst="rect">
            <a:avLst/>
          </a:prstGeom>
          <a:solidFill>
            <a:srgbClr val="D1D1D6"/>
          </a:solidFill>
          <a:ln w="12700">
            <a:solidFill>
              <a:srgbClr val="D1D1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828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数字化安全监督员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让每一张作业票，都经得起检查。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57600" y="3063240"/>
            <a:ext cx="1828800" cy="0"/>
          </a:xfrm>
          <a:prstGeom prst="line">
            <a:avLst/>
          </a:prstGeom>
          <a:noFill/>
          <a:ln w="25400">
            <a:solidFill>
              <a:srgbClr val="5B8D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291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拍照  ·  识别  ·  校验  ·  审批  ·  留痕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6634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中燃集团 AI 创新创意大赛  ·  流程自动化与审批助手</a:t>
            </a:r>
            <a:endParaRPr lang="en-US" sz="1100" dirty="0"/>
          </a:p>
        </p:txBody>
      </p:sp>
    </p:spTree>
  </p:cSld>
  <p:clrMapOvr>
    <a:masterClrMapping/>
  </p:clrMapOvr>
  <p:transition spd="med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数字化安全监督员 · 宣传</dc:title>
  <dc:subject>燃气 HSE 带气作业票 AI 审批助手</dc:subject>
  <dc:creator>数字化安全监督员</dc:creator>
  <cp:lastModifiedBy>数字化安全监督员</cp:lastModifiedBy>
  <cp:revision>1</cp:revision>
  <dcterms:created xsi:type="dcterms:W3CDTF">2026-07-14T08:01:43Z</dcterms:created>
  <dcterms:modified xsi:type="dcterms:W3CDTF">2026-07-14T08:01:43Z</dcterms:modified>
</cp:coreProperties>
</file>